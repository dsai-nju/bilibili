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2" r:id="rId2"/>
    <p:sldId id="318" r:id="rId3"/>
    <p:sldId id="266" r:id="rId4"/>
    <p:sldId id="284" r:id="rId5"/>
    <p:sldId id="303" r:id="rId6"/>
    <p:sldId id="306" r:id="rId7"/>
    <p:sldId id="304" r:id="rId8"/>
    <p:sldId id="267" r:id="rId9"/>
    <p:sldId id="285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44" y="88"/>
      </p:cViewPr>
      <p:guideLst>
        <p:guide orient="horz" pos="2203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16914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29334934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1628767535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443417163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2025367773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05261844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FAE8AA-3200-F847-D655-7218B9F709B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AC4694-88E9-5042-55C9-3906DB92B10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AC4694-88E9-5042-55C9-3906DB92B10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AC4694-88E9-5042-55C9-3906DB92B10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6816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993611566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775875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644726685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9152841" name="图片 4" descr="底图-12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 bwMode="auto"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1841761122" name="图片 6" descr="建筑-14"/>
          <p:cNvPicPr>
            <a:picLocks noChangeAspect="1"/>
          </p:cNvPicPr>
          <p:nvPr userDrawn="1"/>
        </p:nvPicPr>
        <p:blipFill rotWithShape="1"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542348348" name="图片 5" descr="建筑_画板 1 副本 3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 bwMode="auto">
          <a:xfrm>
            <a:off x="-2264410" y="3312795"/>
            <a:ext cx="6789600" cy="3120355"/>
          </a:xfrm>
          <a:prstGeom prst="rect">
            <a:avLst/>
          </a:prstGeom>
        </p:spPr>
      </p:pic>
      <p:pic>
        <p:nvPicPr>
          <p:cNvPr id="1170218457" name="图片 7" descr="建筑_画板 1 副本 7"/>
          <p:cNvPicPr>
            <a:picLocks noChangeAspect="1"/>
          </p:cNvPicPr>
          <p:nvPr userDrawn="1"/>
        </p:nvPicPr>
        <p:blipFill rotWithShape="1">
          <a:blip r:embed="rId5">
            <a:alphaModFix amt="80000"/>
          </a:blip>
          <a:stretch>
            <a:fillRect/>
          </a:stretch>
        </p:blipFill>
        <p:spPr bwMode="auto">
          <a:xfrm>
            <a:off x="4217670" y="3763696"/>
            <a:ext cx="7974000" cy="26694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5953806" name="图片 3" descr="底图-12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 bwMode="auto"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1623379717" name="图片 5" descr="建筑-14"/>
          <p:cNvPicPr>
            <a:picLocks noChangeAspect="1"/>
          </p:cNvPicPr>
          <p:nvPr userDrawn="1"/>
        </p:nvPicPr>
        <p:blipFill rotWithShape="1"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1640826183" name="图片 8" descr="建筑_画板 1 副本 15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 bwMode="auto">
          <a:xfrm>
            <a:off x="8115935" y="2320925"/>
            <a:ext cx="4525200" cy="4258253"/>
          </a:xfrm>
          <a:prstGeom prst="rect">
            <a:avLst/>
          </a:prstGeom>
        </p:spPr>
      </p:pic>
      <p:pic>
        <p:nvPicPr>
          <p:cNvPr id="231692438" name="图片 9" descr="建筑_画板 1 副本 11"/>
          <p:cNvPicPr>
            <a:picLocks noChangeAspect="1"/>
          </p:cNvPicPr>
          <p:nvPr userDrawn="1"/>
        </p:nvPicPr>
        <p:blipFill rotWithShape="1">
          <a:blip r:embed="rId5">
            <a:alphaModFix amt="80000"/>
          </a:blip>
          <a:stretch>
            <a:fillRect/>
          </a:stretch>
        </p:blipFill>
        <p:spPr bwMode="auto">
          <a:xfrm>
            <a:off x="-760730" y="3352800"/>
            <a:ext cx="9288000" cy="31093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2_标题幻灯片">
    <p:bg>
      <p:bgPr>
        <a:solidFill>
          <a:srgbClr val="89785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4715958" name="图片 8" descr="底图-02"/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tretch>
            <a:fillRect/>
          </a:stretch>
        </p:blipFill>
        <p:spPr bwMode="auto"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08169589" name="日期占位符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1128296825" name="页脚占位符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82080209" name="灯片编号占位符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  <p:pic>
        <p:nvPicPr>
          <p:cNvPr id="1944289472" name="图片 3" descr="建筑-14"/>
          <p:cNvPicPr>
            <a:picLocks noChangeAspect="1"/>
          </p:cNvPicPr>
          <p:nvPr userDrawn="1"/>
        </p:nvPicPr>
        <p:blipFill rotWithShape="1">
          <a:blip r:embed="rId3">
            <a:alphaModFix amt="10000"/>
          </a:blip>
          <a:stretch>
            <a:fillRect/>
          </a:stretch>
        </p:blipFill>
        <p:spPr bwMode="auto"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77704250" name="图片 5" descr="底图-09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 bwMode="auto">
          <a:xfrm>
            <a:off x="-458470" y="5695950"/>
            <a:ext cx="13047980" cy="13354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956737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zh-CN"/>
              <a:t>单击此处编辑标题</a:t>
            </a:r>
          </a:p>
        </p:txBody>
      </p:sp>
      <p:sp>
        <p:nvSpPr>
          <p:cNvPr id="822863649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单击此处编辑文本</a:t>
            </a:r>
          </a:p>
        </p:txBody>
      </p:sp>
      <p:sp>
        <p:nvSpPr>
          <p:cNvPr id="671428578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1545564503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1247629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284374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1103415223" name="内容占位符 2"/>
          <p:cNvSpPr>
            <a:spLocks noGrp="1"/>
          </p:cNvSpPr>
          <p:nvPr>
            <p:ph sz="half" idx="1"/>
          </p:nvPr>
        </p:nvSpPr>
        <p:spPr bwMode="auto"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2002382836" name="内容占位符 3"/>
          <p:cNvSpPr>
            <a:spLocks noGrp="1"/>
          </p:cNvSpPr>
          <p:nvPr>
            <p:ph sz="half" idx="2"/>
          </p:nvPr>
        </p:nvSpPr>
        <p:spPr bwMode="auto"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45370256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274535731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44821436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62780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164024723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</a:p>
        </p:txBody>
      </p:sp>
      <p:sp>
        <p:nvSpPr>
          <p:cNvPr id="1792775899" name="内容占位符 3"/>
          <p:cNvSpPr>
            <a:spLocks noGrp="1"/>
          </p:cNvSpPr>
          <p:nvPr>
            <p:ph sz="half" idx="2"/>
          </p:nvPr>
        </p:nvSpPr>
        <p:spPr bwMode="auto"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1412223616" name="文本占位符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</a:p>
        </p:txBody>
      </p:sp>
      <p:sp>
        <p:nvSpPr>
          <p:cNvPr id="901978629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1114046176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207508711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3427640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222637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1643307264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364523535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13408509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266388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80739134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04309515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853034" name="图片占位符 2"/>
          <p:cNvSpPr>
            <a:spLocks noGrp="1"/>
          </p:cNvSpPr>
          <p:nvPr>
            <p:ph type="pic" idx="1"/>
          </p:nvPr>
        </p:nvSpPr>
        <p:spPr bwMode="auto"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endParaRPr lang="zh-CN"/>
          </a:p>
        </p:txBody>
      </p:sp>
      <p:sp>
        <p:nvSpPr>
          <p:cNvPr id="22619389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471495548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132606618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21827835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 altLang="zh-CN"/>
              <a:t>‹#›</a:t>
            </a:fld>
            <a:endParaRPr lang="zh-CN"/>
          </a:p>
        </p:txBody>
      </p:sp>
      <p:sp>
        <p:nvSpPr>
          <p:cNvPr id="2107864467" name="标题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27613" name="竖排标题 1"/>
          <p:cNvSpPr>
            <a:spLocks noGrp="1"/>
          </p:cNvSpPr>
          <p:nvPr>
            <p:ph type="title" orient="vert" hasCustomPrompt="1"/>
          </p:nvPr>
        </p:nvSpPr>
        <p:spPr bwMode="auto"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>
              <a:defRPr/>
            </a:pPr>
            <a:r>
              <a:rPr lang="zh-CN"/>
              <a:t>单击此处编辑标题</a:t>
            </a:r>
          </a:p>
        </p:txBody>
      </p:sp>
      <p:sp>
        <p:nvSpPr>
          <p:cNvPr id="1493166812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83820586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20032905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53515934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39480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198718445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4487006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  <p:sp>
        <p:nvSpPr>
          <p:cNvPr id="545002303" name="内容占位符 6"/>
          <p:cNvSpPr>
            <a:spLocks noGrp="1"/>
          </p:cNvSpPr>
          <p:nvPr>
            <p:ph sz="quarter" idx="13"/>
          </p:nvPr>
        </p:nvSpPr>
        <p:spPr bwMode="auto">
          <a:xfrm>
            <a:off x="608400" y="774000"/>
            <a:ext cx="10972800" cy="5482800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末尾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805000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39006647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7810709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  <p:sp>
        <p:nvSpPr>
          <p:cNvPr id="727274204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zh-CN"/>
              <a:t>单击此处编辑标题</a:t>
            </a:r>
          </a:p>
        </p:txBody>
      </p:sp>
      <p:sp>
        <p:nvSpPr>
          <p:cNvPr id="1025087363" name="文本占位符 6"/>
          <p:cNvSpPr>
            <a:spLocks noGrp="1"/>
          </p:cNvSpPr>
          <p:nvPr>
            <p:ph type="body" sz="quarter" idx="13"/>
          </p:nvPr>
        </p:nvSpPr>
        <p:spPr bwMode="auto"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标题和副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85526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1359734788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单击此处编辑副标题</a:t>
            </a:r>
            <a:endParaRPr lang="en-US"/>
          </a:p>
        </p:txBody>
      </p:sp>
      <p:sp>
        <p:nvSpPr>
          <p:cNvPr id="1148930510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637814759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56052606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仅标题版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190964" name="标题 1"/>
          <p:cNvSpPr>
            <a:spLocks noGrp="1"/>
          </p:cNvSpPr>
          <p:nvPr>
            <p:ph type="title"/>
          </p:nvPr>
        </p:nvSpPr>
        <p:spPr bwMode="auto"/>
        <p:txBody>
          <a:bodyPr wrap="square">
            <a:normAutofit/>
          </a:bodyPr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742996328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 wrap="square">
            <a:normAutofit/>
          </a:bodyPr>
          <a:lstStyle/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70239217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73218005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 wrap="square">
            <a:normAutofit/>
          </a:bodyPr>
          <a:lstStyle/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295706" name="标题占位符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8065951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147522414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0FBDFE-C587-4B4C-A407-44438C67B59E}" type="datetimeFigureOut">
              <a:rPr lang="zh-CN" altLang="en-US"/>
              <a:t>2025/12/25</a:t>
            </a:fld>
            <a:endParaRPr lang="zh-CN"/>
          </a:p>
        </p:txBody>
      </p:sp>
      <p:sp>
        <p:nvSpPr>
          <p:cNvPr id="853993504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59671347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AE70B2-8BF9-45C0-BB95-33D1B9D3A85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1" u="none" strike="noStrik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12.png"/><Relationship Id="rId4" Type="http://schemas.openxmlformats.org/officeDocument/2006/relationships/tags" Target="../tags/tag7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609267" name="文本框 7"/>
          <p:cNvSpPr txBox="1"/>
          <p:nvPr/>
        </p:nvSpPr>
        <p:spPr bwMode="auto">
          <a:xfrm>
            <a:off x="1372235" y="1720850"/>
            <a:ext cx="93116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6000" b="1">
                <a:solidFill>
                  <a:srgbClr val="FEDE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6000" b="1">
                <a:solidFill>
                  <a:srgbClr val="FEDE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站弹幕爬取以及情感分析</a:t>
            </a:r>
          </a:p>
        </p:txBody>
      </p:sp>
      <p:sp>
        <p:nvSpPr>
          <p:cNvPr id="1018605883" name="矩形 11"/>
          <p:cNvSpPr/>
          <p:nvPr/>
        </p:nvSpPr>
        <p:spPr bwMode="auto">
          <a:xfrm>
            <a:off x="1791970" y="2735580"/>
            <a:ext cx="832358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1600" b="1">
                <a:solidFill>
                  <a:srgbClr val="FEDE7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This team focuses on the crawling and analysis of Bilibili's bullet comments.</a:t>
            </a:r>
          </a:p>
        </p:txBody>
      </p:sp>
      <p:sp>
        <p:nvSpPr>
          <p:cNvPr id="494873266" name="文本框 2"/>
          <p:cNvSpPr txBox="1"/>
          <p:nvPr/>
        </p:nvSpPr>
        <p:spPr bwMode="auto">
          <a:xfrm>
            <a:off x="2761615" y="3848100"/>
            <a:ext cx="55232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defRPr/>
            </a:pPr>
            <a:r>
              <a:rPr lang="zh-CN" sz="2400" b="1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成员：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全昌华，王进，金浩然，陈帅衡</a:t>
            </a:r>
          </a:p>
        </p:txBody>
      </p:sp>
      <p:pic>
        <p:nvPicPr>
          <p:cNvPr id="578569458" name="图片 1" descr="校标、校名-透空2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647689673" name="图片 8" descr="底图-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90288632" name="图片 14" descr="未标题-2_画板 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00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前情回顾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25" name="图片 24" descr="词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514" y="1368083"/>
            <a:ext cx="4747471" cy="239503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98A833D-3A56-B446-33E0-E025E183578A}"/>
              </a:ext>
            </a:extLst>
          </p:cNvPr>
          <p:cNvSpPr txBox="1"/>
          <p:nvPr/>
        </p:nvSpPr>
        <p:spPr bwMode="auto">
          <a:xfrm>
            <a:off x="85476" y="1794510"/>
            <a:ext cx="72950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目标：利用</a:t>
            </a:r>
            <a:r>
              <a:rPr lang="en-US" altLang="zh-CN" dirty="0"/>
              <a:t>B</a:t>
            </a:r>
            <a:r>
              <a:rPr lang="zh-CN" altLang="en-US" dirty="0"/>
              <a:t>站每周必看视频的弹幕进行情绪评分，得到</a:t>
            </a:r>
            <a:r>
              <a:rPr lang="en-US" altLang="zh-CN" dirty="0"/>
              <a:t>B</a:t>
            </a:r>
            <a:r>
              <a:rPr lang="zh-CN" altLang="en-US" dirty="0"/>
              <a:t>站用户情绪指标（时间序列），分析其变化趋势及其与经济指标变动趋势的联系。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研究计划汇报时重点讲了</a:t>
            </a:r>
            <a:r>
              <a:rPr lang="en-US" altLang="zh-CN" dirty="0"/>
              <a:t>B</a:t>
            </a:r>
            <a:r>
              <a:rPr lang="zh-CN" altLang="en-US" dirty="0"/>
              <a:t>站弹幕的获取，本次不再详细汇报，</a:t>
            </a:r>
            <a:r>
              <a:rPr lang="zh-CN" altLang="en-US"/>
              <a:t>根据反馈我们</a:t>
            </a:r>
            <a:r>
              <a:rPr lang="zh-CN" altLang="en-US" dirty="0"/>
              <a:t>做了如下优化：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爬取了视频的基本信息（标题、描述、发布时间、点赞数、弹幕数量、标签等）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每个视频从其发布时间开始爬取（而非根据期数），保存</a:t>
            </a:r>
            <a:r>
              <a:rPr lang="en-US" altLang="zh-CN" dirty="0"/>
              <a:t>1000</a:t>
            </a:r>
            <a:r>
              <a:rPr lang="zh-CN" altLang="en-US" dirty="0"/>
              <a:t>条用于情绪评分。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根据发布时间将每个视频的情绪评分对应到每月（而非原定的期数）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利用标题、描述和标签部分剔除视频本身对弹幕情绪的影响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在获取</a:t>
            </a:r>
            <a:r>
              <a:rPr lang="en-US" altLang="zh-CN" dirty="0"/>
              <a:t>B</a:t>
            </a:r>
            <a:r>
              <a:rPr lang="zh-CN" altLang="en-US" dirty="0"/>
              <a:t>站每周必看全部视频的基本信息和弹幕后，</a:t>
            </a:r>
            <a:endParaRPr lang="en-US" altLang="zh-CN" dirty="0"/>
          </a:p>
          <a:p>
            <a:r>
              <a:rPr lang="zh-CN" altLang="en-US" dirty="0"/>
              <a:t>随机抽取了</a:t>
            </a:r>
            <a:r>
              <a:rPr lang="en-US" altLang="zh-CN" dirty="0"/>
              <a:t>6000</a:t>
            </a:r>
            <a:r>
              <a:rPr lang="zh-CN" altLang="en-US" dirty="0"/>
              <a:t>多条无重复的弹幕进行人工评分，以供后续训练和评估。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F8A7B6C-31F9-2F8B-E43E-776B5115F1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8" t="2703" r="1286"/>
          <a:stretch>
            <a:fillRect/>
          </a:stretch>
        </p:blipFill>
        <p:spPr>
          <a:xfrm>
            <a:off x="7656286" y="4128418"/>
            <a:ext cx="3984171" cy="2395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408889" name="图片 1" descr="工作动态"/>
          <p:cNvPicPr>
            <a:picLocks noChangeAspect="1"/>
          </p:cNvPicPr>
          <p:nvPr/>
        </p:nvPicPr>
        <p:blipFill rotWithShape="1">
          <a:blip r:embed="rId3"/>
          <a:srcRect r="8351"/>
          <a:stretch>
            <a:fillRect/>
          </a:stretch>
        </p:blipFill>
        <p:spPr bwMode="auto">
          <a:xfrm>
            <a:off x="-33020" y="0"/>
            <a:ext cx="12307570" cy="6854190"/>
          </a:xfrm>
          <a:prstGeom prst="rect">
            <a:avLst/>
          </a:prstGeom>
        </p:spPr>
      </p:pic>
      <p:sp>
        <p:nvSpPr>
          <p:cNvPr id="142907516" name="矩形 15"/>
          <p:cNvSpPr/>
          <p:nvPr/>
        </p:nvSpPr>
        <p:spPr bwMode="auto">
          <a:xfrm>
            <a:off x="-33020" y="0"/>
            <a:ext cx="12307570" cy="6854190"/>
          </a:xfrm>
          <a:prstGeom prst="rect">
            <a:avLst/>
          </a:prstGeom>
          <a:solidFill>
            <a:srgbClr val="E0D5A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1063510280" name="单圆角矩形 8"/>
          <p:cNvSpPr/>
          <p:nvPr/>
        </p:nvSpPr>
        <p:spPr bwMode="auto">
          <a:xfrm>
            <a:off x="-33020" y="2476500"/>
            <a:ext cx="12307570" cy="1908810"/>
          </a:xfrm>
          <a:prstGeom prst="round1Rect">
            <a:avLst>
              <a:gd name="adj" fmla="val 0"/>
            </a:avLst>
          </a:prstGeom>
          <a:solidFill>
            <a:srgbClr val="FED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533611158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7E6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693726240" name="图片 2" descr="底图-04"/>
          <p:cNvPicPr>
            <a:picLocks noChangeAspect="1"/>
          </p:cNvPicPr>
          <p:nvPr/>
        </p:nvPicPr>
        <p:blipFill rotWithShape="1">
          <a:blip r:embed="rId4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cxnSp>
        <p:nvCxnSpPr>
          <p:cNvPr id="838277765" name="直接连接符 6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8594859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如何进行情感评分？</a:t>
            </a:r>
          </a:p>
        </p:txBody>
      </p:sp>
      <p:sp>
        <p:nvSpPr>
          <p:cNvPr id="839503698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8800">
                <a:solidFill>
                  <a:schemeClr val="bg1"/>
                </a:solidFill>
                <a:latin typeface="思源黑体 CN Bold"/>
                <a:ea typeface="思源黑体 CN Bold"/>
                <a:cs typeface="思源黑体 CN Normal"/>
              </a:rPr>
              <a:t>01</a:t>
            </a:r>
            <a:endParaRPr lang="en-US" sz="8800" b="1">
              <a:solidFill>
                <a:schemeClr val="bg1"/>
              </a:solidFill>
              <a:latin typeface="思源黑体 CN Bold"/>
              <a:ea typeface="思源黑体 CN Bold"/>
              <a:cs typeface="思源黑体 CN Normal"/>
            </a:endParaRPr>
          </a:p>
        </p:txBody>
      </p:sp>
      <p:pic>
        <p:nvPicPr>
          <p:cNvPr id="1245666636" name="图片 3" descr="工作动态"/>
          <p:cNvPicPr>
            <a:picLocks noChangeAspect="1"/>
          </p:cNvPicPr>
          <p:nvPr/>
        </p:nvPicPr>
        <p:blipFill rotWithShape="1">
          <a:blip r:embed="rId3"/>
          <a:srcRect l="14" t="-140" r="48946" b="140"/>
          <a:stretch>
            <a:fillRect/>
          </a:stretch>
        </p:blipFill>
        <p:spPr bwMode="auto">
          <a:xfrm>
            <a:off x="7300608" y="1697990"/>
            <a:ext cx="3600000" cy="3600000"/>
          </a:xfrm>
          <a:prstGeom prst="rect">
            <a:avLst/>
          </a:prstGeom>
        </p:spPr>
      </p:pic>
      <p:pic>
        <p:nvPicPr>
          <p:cNvPr id="864321454" name="图片 7" descr="校标、校名-透空2"/>
          <p:cNvPicPr>
            <a:picLocks noChangeAspect="1"/>
          </p:cNvPicPr>
          <p:nvPr userDrawn="1"/>
        </p:nvPicPr>
        <p:blipFill rotWithShape="1">
          <a:blip r:embed="rId5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611852084" name="图片 10" descr="底图-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6658300" name="图片 14" descr="未标题-2_画板 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64732526" name="文本框 18"/>
          <p:cNvSpPr txBox="1"/>
          <p:nvPr/>
        </p:nvSpPr>
        <p:spPr bwMode="auto">
          <a:xfrm>
            <a:off x="1976120" y="356933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全昌华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我们用了什么模型？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917575" y="1258570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哈哈哈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”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占比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917575" y="2560320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 SnowNLP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918210" y="4364990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训练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+SnowNLP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376410" y="1258570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支持向量机（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SVM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）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9419590" y="2860675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朴素贝叶斯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NB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）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9376410" y="4303395"/>
            <a:ext cx="2339340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深度学习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BERT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模型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048000" y="2669540"/>
            <a:ext cx="1163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MSE: 0.1104</a:t>
            </a: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MAE: 0.2598</a:t>
            </a:r>
          </a:p>
        </p:txBody>
      </p:sp>
      <p:sp>
        <p:nvSpPr>
          <p:cNvPr id="23" name="右箭头 22"/>
          <p:cNvSpPr/>
          <p:nvPr>
            <p:custDataLst>
              <p:tags r:id="rId1"/>
            </p:custDataLst>
          </p:nvPr>
        </p:nvSpPr>
        <p:spPr>
          <a:xfrm rot="5400000">
            <a:off x="1551940" y="3763645"/>
            <a:ext cx="75311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53410" y="1258570"/>
            <a:ext cx="272732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用一条视频中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哈哈哈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的占比进行评分，占比越高评分越高</a:t>
            </a: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——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最朴素的评分方法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048000" y="4474210"/>
            <a:ext cx="11639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MSE: 0.1186</a:t>
            </a: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MAE: 0.2655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1645" y="3601085"/>
            <a:ext cx="13061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进行学习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100060" y="1367790"/>
            <a:ext cx="1206500" cy="539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MSE: 0.3132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MAE: 0.0981</a:t>
            </a:r>
          </a:p>
          <a:p>
            <a:endParaRPr lang="en-US" altLang="zh-CN" sz="14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00060" y="2969895"/>
            <a:ext cx="12071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MSE: 0.3246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</a:rPr>
              <a:t>MAE : 0.1054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7628890" y="1258570"/>
            <a:ext cx="575310" cy="2342515"/>
          </a:xfrm>
          <a:prstGeom prst="leftBrac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814060" y="2215515"/>
            <a:ext cx="1675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华文行楷" panose="02010800040101010101" charset="-122"/>
                <a:ea typeface="华文行楷" panose="02010800040101010101" charset="-122"/>
              </a:rPr>
              <a:t>传统机器学习</a:t>
            </a:r>
          </a:p>
        </p:txBody>
      </p:sp>
      <p:sp>
        <p:nvSpPr>
          <p:cNvPr id="19" name="左大括号 18"/>
          <p:cNvSpPr/>
          <p:nvPr/>
        </p:nvSpPr>
        <p:spPr>
          <a:xfrm flipH="1">
            <a:off x="4126865" y="2560320"/>
            <a:ext cx="779780" cy="2583815"/>
          </a:xfrm>
          <a:prstGeom prst="leftBrac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87620" y="3684270"/>
            <a:ext cx="16757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华文行楷" panose="02010800040101010101" charset="-122"/>
                <a:ea typeface="华文行楷" panose="02010800040101010101" charset="-122"/>
              </a:rPr>
              <a:t>基于情感词典</a:t>
            </a:r>
          </a:p>
        </p:txBody>
      </p:sp>
      <p:pic>
        <p:nvPicPr>
          <p:cNvPr id="21" name="图片 20" descr="Bert模型失败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235" y="4356735"/>
            <a:ext cx="4074160" cy="2033905"/>
          </a:xfrm>
          <a:prstGeom prst="rect">
            <a:avLst/>
          </a:prstGeom>
        </p:spPr>
      </p:pic>
      <p:sp>
        <p:nvSpPr>
          <p:cNvPr id="22" name="椭圆 21"/>
          <p:cNvSpPr/>
          <p:nvPr/>
        </p:nvSpPr>
        <p:spPr>
          <a:xfrm>
            <a:off x="4906645" y="5767705"/>
            <a:ext cx="2120265" cy="61912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31985" y="5534660"/>
            <a:ext cx="256032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000" i="1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charset="-122"/>
                <a:ea typeface="华文行楷" panose="02010800040101010101" charset="-122"/>
              </a:rPr>
              <a:t>放弃！！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+mn-ea"/>
                <a:cs typeface="思源黑体 CN Normal"/>
                <a:sym typeface="+mn-ea"/>
              </a:rPr>
              <a:t>我们做了什么修正？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5270" y="1063625"/>
            <a:ext cx="2578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华文行楷" panose="02010800040101010101" charset="-122"/>
                <a:ea typeface="华文行楷" panose="02010800040101010101" charset="-122"/>
              </a:rPr>
              <a:t>修正一：中心化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97835" y="2783840"/>
            <a:ext cx="2959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二次投票问题</a:t>
            </a:r>
            <a:r>
              <a:rPr lang="zh-CN" altLang="en-US" sz="2800">
                <a:solidFill>
                  <a:srgbClr val="C00000"/>
                </a:solidFill>
                <a:latin typeface="华文行楷" panose="02010800040101010101" charset="-122"/>
                <a:ea typeface="华文行楷" panose="02010800040101010101" charset="-122"/>
              </a:rPr>
              <a:t>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8080" y="3348355"/>
            <a:ext cx="8101965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“每周必看”视频是 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站算法已经</a:t>
            </a:r>
            <a:r>
              <a:rPr lang="zh-CN" altLang="en-US" sz="1600" b="1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筛选过一轮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的结果：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 ①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原始上传池 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→ ②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算法挑高互动 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→ ③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人工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/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运营再给“每周必看”标签。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 ·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步骤 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②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里本身就</a:t>
            </a:r>
            <a:r>
              <a:rPr lang="zh-CN" altLang="en-US" sz="1600" b="1" i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偏好正向情绪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（愤怒、恶心类视频很难被全站推荐）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zh-CN" altLang="en-US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 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因此：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  1.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如果用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全站分区基线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去校正，可能把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B 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站官方选片（每周必看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=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高播放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高互动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高情绪共鸣）的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情绪放大器</a:t>
            </a: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”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效果抹掉，造成</a:t>
            </a:r>
            <a:r>
              <a:rPr lang="zh-CN" altLang="en-US" sz="1600" b="1" i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低估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  2.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但如果不校正，周度曲线又会</a:t>
            </a:r>
            <a:r>
              <a:rPr lang="zh-CN" altLang="en-US" sz="1600" b="1" i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随分区配比</a:t>
            </a: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上下跳动，掩盖真正的“情绪周期”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43965" y="1510030"/>
            <a:ext cx="79603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统计事实：鬼畜区弹幕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VS.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旅游区弹幕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→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这是客观分布差异。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557145" y="1125220"/>
            <a:ext cx="56953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修正目标：我们想知道的是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大众情绪随时间的真实波动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3" name="右箭头 22"/>
          <p:cNvSpPr/>
          <p:nvPr>
            <p:custDataLst>
              <p:tags r:id="rId1"/>
            </p:custDataLst>
          </p:nvPr>
        </p:nvSpPr>
        <p:spPr>
          <a:xfrm rot="5400000">
            <a:off x="4205605" y="2032635"/>
            <a:ext cx="544195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16355" y="2379345"/>
            <a:ext cx="67767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能否用：某个视频的情感得分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- B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站这个标签下所有视频情感得分加权均值？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+mn-ea"/>
                <a:cs typeface="思源黑体 CN Normal"/>
                <a:sym typeface="+mn-ea"/>
              </a:rPr>
              <a:t>我们做了什么修正？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5270" y="1063625"/>
            <a:ext cx="2578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华文行楷" panose="02010800040101010101" charset="-122"/>
                <a:ea typeface="华文行楷" panose="02010800040101010101" charset="-122"/>
              </a:rPr>
              <a:t>修正一：中心化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557145" y="1125220"/>
            <a:ext cx="56953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修正目标：我们想知道的是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大众情绪随时间的真实波动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26" name="图片 25" descr="每周分区占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" y="1809750"/>
            <a:ext cx="6000750" cy="4483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160" y="1457960"/>
            <a:ext cx="5089525" cy="22510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4690" y="3385820"/>
            <a:ext cx="5293995" cy="1755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9160" y="5140960"/>
            <a:ext cx="4866640" cy="1618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+mn-ea"/>
                <a:cs typeface="思源黑体 CN Normal"/>
                <a:sym typeface="+mn-ea"/>
              </a:rPr>
              <a:t>我们做了什么修正？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5270" y="1008380"/>
            <a:ext cx="486600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华文行楷" panose="02010800040101010101" charset="-122"/>
                <a:ea typeface="华文行楷" panose="02010800040101010101" charset="-122"/>
              </a:rPr>
              <a:t>修正二：根据标题和描述进行修正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2110" y="1555750"/>
            <a:ext cx="3379470" cy="3740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视频本身的类型会挑动观众的情绪</a:t>
            </a: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98720" y="1083945"/>
            <a:ext cx="56953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修正目标：我们想知道的是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大众净情绪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4" name="右箭头 23"/>
          <p:cNvSpPr/>
          <p:nvPr>
            <p:custDataLst>
              <p:tags r:id="rId1"/>
            </p:custDataLst>
          </p:nvPr>
        </p:nvSpPr>
        <p:spPr>
          <a:xfrm>
            <a:off x="3647440" y="1616075"/>
            <a:ext cx="573405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" y="2539365"/>
            <a:ext cx="10024745" cy="17703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76725" y="1577975"/>
            <a:ext cx="33896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剥离视频情绪的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叠加效应</a:t>
            </a:r>
            <a:r>
              <a:rPr lang="en-US" altLang="zh-CN" sz="16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72110" y="2020570"/>
            <a:ext cx="60960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我们用训练出来的模型对于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视频的标题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描述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进行情感评分，作为视频的情感评分，并用以下公式进行修正：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6355" y="4740910"/>
            <a:ext cx="85890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核心思路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:</a:t>
            </a:r>
          </a:p>
          <a:p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·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并非直接用弹幕的情感评分减去视频的情感评分，而是保证积极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—&gt;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仍积极，消极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—&gt;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仍消极</a:t>
            </a:r>
          </a:p>
          <a:p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·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弹幕的情感评分和视频的情感评分方向越一致，修正幅度越大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+mn-ea"/>
                <a:cs typeface="思源黑体 CN Normal"/>
                <a:sym typeface="+mn-ea"/>
              </a:rPr>
              <a:t>总体思路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10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539875" y="1104900"/>
            <a:ext cx="2021205" cy="52514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所有弹幕数据</a:t>
            </a:r>
          </a:p>
        </p:txBody>
      </p:sp>
      <p:sp>
        <p:nvSpPr>
          <p:cNvPr id="11" name="圆角矩形 10"/>
          <p:cNvSpPr/>
          <p:nvPr>
            <p:custDataLst>
              <p:tags r:id="rId1"/>
            </p:custDataLst>
          </p:nvPr>
        </p:nvSpPr>
        <p:spPr>
          <a:xfrm>
            <a:off x="1539875" y="2325370"/>
            <a:ext cx="2021205" cy="52514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原始情感得分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7190740" y="2326005"/>
            <a:ext cx="2021205" cy="52387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标题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描述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修正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4603750" y="2325370"/>
            <a:ext cx="2021205" cy="52514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中心化</a:t>
            </a:r>
          </a:p>
        </p:txBody>
      </p:sp>
      <p:sp>
        <p:nvSpPr>
          <p:cNvPr id="14" name="右箭头 13"/>
          <p:cNvSpPr/>
          <p:nvPr>
            <p:custDataLst>
              <p:tags r:id="rId2"/>
            </p:custDataLst>
          </p:nvPr>
        </p:nvSpPr>
        <p:spPr>
          <a:xfrm rot="5400000">
            <a:off x="2278380" y="1871345"/>
            <a:ext cx="544195" cy="2095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03750" y="3670300"/>
            <a:ext cx="2021205" cy="74041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根据弹幕数量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分别进行加权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927100" y="1701800"/>
            <a:ext cx="1376680" cy="552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不同模型</a:t>
            </a:r>
          </a:p>
          <a:p>
            <a:r>
              <a:rPr lang="zh-CN" altLang="en-US" u="sng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训练</a:t>
            </a:r>
            <a:r>
              <a:rPr lang="zh-CN" altLang="en-US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和评分</a:t>
            </a:r>
          </a:p>
        </p:txBody>
      </p:sp>
      <p:sp>
        <p:nvSpPr>
          <p:cNvPr id="17" name="右箭头 16"/>
          <p:cNvSpPr/>
          <p:nvPr>
            <p:custDataLst>
              <p:tags r:id="rId4"/>
            </p:custDataLst>
          </p:nvPr>
        </p:nvSpPr>
        <p:spPr>
          <a:xfrm>
            <a:off x="3671570" y="2483485"/>
            <a:ext cx="821690" cy="20955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5095240" y="1530985"/>
            <a:ext cx="942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修正二</a:t>
            </a: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3611245" y="2037715"/>
            <a:ext cx="942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修正一</a:t>
            </a:r>
          </a:p>
        </p:txBody>
      </p:sp>
      <p:sp>
        <p:nvSpPr>
          <p:cNvPr id="21" name="手杖形箭头 20"/>
          <p:cNvSpPr/>
          <p:nvPr/>
        </p:nvSpPr>
        <p:spPr>
          <a:xfrm>
            <a:off x="3078480" y="1951355"/>
            <a:ext cx="5217160" cy="349885"/>
          </a:xfrm>
          <a:prstGeom prst="utur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11" idx="2"/>
            <a:endCxn id="10" idx="0"/>
          </p:cNvCxnSpPr>
          <p:nvPr/>
        </p:nvCxnSpPr>
        <p:spPr>
          <a:xfrm rot="5400000" flipV="1">
            <a:off x="3672840" y="1728470"/>
            <a:ext cx="819785" cy="3063875"/>
          </a:xfrm>
          <a:prstGeom prst="bentConnector3">
            <a:avLst>
              <a:gd name="adj1" fmla="val 50039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2" idx="2"/>
            <a:endCxn id="10" idx="0"/>
          </p:cNvCxnSpPr>
          <p:nvPr/>
        </p:nvCxnSpPr>
        <p:spPr>
          <a:xfrm rot="5400000">
            <a:off x="6497955" y="1966595"/>
            <a:ext cx="820420" cy="258699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3" idx="2"/>
          </p:cNvCxnSpPr>
          <p:nvPr/>
        </p:nvCxnSpPr>
        <p:spPr>
          <a:xfrm rot="5400000">
            <a:off x="5208905" y="3255010"/>
            <a:ext cx="810895" cy="317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右箭头 28"/>
          <p:cNvSpPr/>
          <p:nvPr>
            <p:custDataLst>
              <p:tags r:id="rId7"/>
            </p:custDataLst>
          </p:nvPr>
        </p:nvSpPr>
        <p:spPr>
          <a:xfrm rot="5400000">
            <a:off x="5387340" y="4582795"/>
            <a:ext cx="457835" cy="209550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4105910" y="5020945"/>
            <a:ext cx="3016885" cy="59817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月度情感评分</a:t>
            </a:r>
          </a:p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2019/03 - 2025/11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）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332740" y="3696970"/>
            <a:ext cx="2021205" cy="59245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人工评分</a:t>
            </a:r>
          </a:p>
          <a:p>
            <a:pPr algn="ctr"/>
            <a:r>
              <a:rPr lang="en-US" altLang="zh-CN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7000</a:t>
            </a:r>
            <a:r>
              <a:rPr lang="zh-CN" altLang="en-US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余条</a:t>
            </a:r>
          </a:p>
        </p:txBody>
      </p:sp>
      <p:sp>
        <p:nvSpPr>
          <p:cNvPr id="35" name="上箭头 34"/>
          <p:cNvSpPr/>
          <p:nvPr/>
        </p:nvSpPr>
        <p:spPr>
          <a:xfrm>
            <a:off x="1148080" y="2412365"/>
            <a:ext cx="210185" cy="1126490"/>
          </a:xfrm>
          <a:prstGeom prst="up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01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+mn-ea"/>
                <a:cs typeface="思源黑体 CN Normal"/>
                <a:sym typeface="+mn-ea"/>
              </a:rPr>
              <a:t>季节性趋势分析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3" name="图片 2" descr="雷达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705" y="5304155"/>
            <a:ext cx="4478655" cy="1535430"/>
          </a:xfrm>
          <a:prstGeom prst="rect">
            <a:avLst/>
          </a:prstGeom>
        </p:spPr>
      </p:pic>
      <p:pic>
        <p:nvPicPr>
          <p:cNvPr id="4" name="图片 3" descr="OLS回归系数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" y="1082040"/>
            <a:ext cx="10815320" cy="42449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55210" y="5631180"/>
            <a:ext cx="3715385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每个模型都在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个月上（或其中几个月）显示出显著性的季节性差异，但是系数较小，都在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0.05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量级左右</a:t>
            </a:r>
          </a:p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——</a:t>
            </a:r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季节性趋势有限</a:t>
            </a:r>
          </a:p>
        </p:txBody>
      </p:sp>
      <p:sp>
        <p:nvSpPr>
          <p:cNvPr id="9" name="右箭头 8"/>
          <p:cNvSpPr/>
          <p:nvPr>
            <p:custDataLst>
              <p:tags r:id="rId1"/>
            </p:custDataLst>
          </p:nvPr>
        </p:nvSpPr>
        <p:spPr>
          <a:xfrm>
            <a:off x="8668385" y="5911215"/>
            <a:ext cx="55499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320530" y="5831840"/>
            <a:ext cx="2697480" cy="40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情感变化更多由事件驱动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408889" name="图片 1" descr="工作动态"/>
          <p:cNvPicPr>
            <a:picLocks noChangeAspect="1"/>
          </p:cNvPicPr>
          <p:nvPr/>
        </p:nvPicPr>
        <p:blipFill rotWithShape="1">
          <a:blip r:embed="rId3"/>
          <a:srcRect r="8351"/>
          <a:stretch>
            <a:fillRect/>
          </a:stretch>
        </p:blipFill>
        <p:spPr bwMode="auto">
          <a:xfrm>
            <a:off x="-33020" y="0"/>
            <a:ext cx="12307570" cy="6854190"/>
          </a:xfrm>
          <a:prstGeom prst="rect">
            <a:avLst/>
          </a:prstGeom>
        </p:spPr>
      </p:pic>
      <p:sp>
        <p:nvSpPr>
          <p:cNvPr id="142907516" name="矩形 15"/>
          <p:cNvSpPr/>
          <p:nvPr/>
        </p:nvSpPr>
        <p:spPr bwMode="auto">
          <a:xfrm>
            <a:off x="-33020" y="0"/>
            <a:ext cx="12307570" cy="6854190"/>
          </a:xfrm>
          <a:prstGeom prst="rect">
            <a:avLst/>
          </a:prstGeom>
          <a:solidFill>
            <a:srgbClr val="E0D5A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1063510280" name="单圆角矩形 8"/>
          <p:cNvSpPr/>
          <p:nvPr/>
        </p:nvSpPr>
        <p:spPr bwMode="auto">
          <a:xfrm>
            <a:off x="-33020" y="2476500"/>
            <a:ext cx="12307570" cy="1908810"/>
          </a:xfrm>
          <a:prstGeom prst="round1Rect">
            <a:avLst>
              <a:gd name="adj" fmla="val 0"/>
            </a:avLst>
          </a:prstGeom>
          <a:solidFill>
            <a:srgbClr val="FED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533611158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7E6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693726240" name="图片 2" descr="底图-04"/>
          <p:cNvPicPr>
            <a:picLocks noChangeAspect="1"/>
          </p:cNvPicPr>
          <p:nvPr/>
        </p:nvPicPr>
        <p:blipFill rotWithShape="1">
          <a:blip r:embed="rId4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cxnSp>
        <p:nvCxnSpPr>
          <p:cNvPr id="838277765" name="直接连接符 6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8594859" name="文本框 17"/>
          <p:cNvSpPr txBox="1"/>
          <p:nvPr/>
        </p:nvSpPr>
        <p:spPr bwMode="auto"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可视化分析</a:t>
            </a:r>
          </a:p>
        </p:txBody>
      </p:sp>
      <p:sp>
        <p:nvSpPr>
          <p:cNvPr id="839503698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8800">
                <a:solidFill>
                  <a:schemeClr val="bg1"/>
                </a:solidFill>
                <a:latin typeface="思源黑体 CN Bold"/>
                <a:ea typeface="思源黑体 CN Bold"/>
                <a:cs typeface="思源黑体 CN Normal"/>
              </a:rPr>
              <a:t>02</a:t>
            </a:r>
            <a:endParaRPr lang="en-US" sz="8800" b="1">
              <a:solidFill>
                <a:schemeClr val="bg1"/>
              </a:solidFill>
              <a:latin typeface="思源黑体 CN Bold"/>
              <a:ea typeface="思源黑体 CN Bold"/>
              <a:cs typeface="思源黑体 CN Normal"/>
            </a:endParaRPr>
          </a:p>
        </p:txBody>
      </p:sp>
      <p:pic>
        <p:nvPicPr>
          <p:cNvPr id="1245666636" name="图片 3" descr="工作动态"/>
          <p:cNvPicPr>
            <a:picLocks noChangeAspect="1"/>
          </p:cNvPicPr>
          <p:nvPr/>
        </p:nvPicPr>
        <p:blipFill rotWithShape="1">
          <a:blip r:embed="rId3"/>
          <a:srcRect l="14" t="-140" r="48946" b="140"/>
          <a:stretch>
            <a:fillRect/>
          </a:stretch>
        </p:blipFill>
        <p:spPr bwMode="auto">
          <a:xfrm>
            <a:off x="7300608" y="1697990"/>
            <a:ext cx="3600000" cy="3600000"/>
          </a:xfrm>
          <a:prstGeom prst="rect">
            <a:avLst/>
          </a:prstGeom>
        </p:spPr>
      </p:pic>
      <p:pic>
        <p:nvPicPr>
          <p:cNvPr id="864321454" name="图片 7" descr="校标、校名-透空2"/>
          <p:cNvPicPr>
            <a:picLocks noChangeAspect="1"/>
          </p:cNvPicPr>
          <p:nvPr userDrawn="1"/>
        </p:nvPicPr>
        <p:blipFill rotWithShape="1">
          <a:blip r:embed="rId5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611852084" name="图片 10" descr="底图-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6658300" name="图片 14" descr="未标题-2_画板 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64732526" name="文本框 18"/>
          <p:cNvSpPr txBox="1"/>
          <p:nvPr/>
        </p:nvSpPr>
        <p:spPr bwMode="auto">
          <a:xfrm>
            <a:off x="1976120" y="3569335"/>
            <a:ext cx="1035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王进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408889" name="图片 1" descr="工作动态"/>
          <p:cNvPicPr>
            <a:picLocks noChangeAspect="1"/>
          </p:cNvPicPr>
          <p:nvPr/>
        </p:nvPicPr>
        <p:blipFill rotWithShape="1">
          <a:blip r:embed="rId3"/>
          <a:srcRect r="8351"/>
          <a:stretch>
            <a:fillRect/>
          </a:stretch>
        </p:blipFill>
        <p:spPr bwMode="auto">
          <a:xfrm>
            <a:off x="-33020" y="0"/>
            <a:ext cx="12307570" cy="6854190"/>
          </a:xfrm>
          <a:prstGeom prst="rect">
            <a:avLst/>
          </a:prstGeom>
        </p:spPr>
      </p:pic>
      <p:sp>
        <p:nvSpPr>
          <p:cNvPr id="142907516" name="矩形 15"/>
          <p:cNvSpPr/>
          <p:nvPr/>
        </p:nvSpPr>
        <p:spPr bwMode="auto">
          <a:xfrm>
            <a:off x="-33020" y="0"/>
            <a:ext cx="12307570" cy="6854190"/>
          </a:xfrm>
          <a:prstGeom prst="rect">
            <a:avLst/>
          </a:prstGeom>
          <a:solidFill>
            <a:srgbClr val="E0D5A3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1063510280" name="单圆角矩形 8"/>
          <p:cNvSpPr/>
          <p:nvPr/>
        </p:nvSpPr>
        <p:spPr bwMode="auto">
          <a:xfrm>
            <a:off x="-33020" y="2476500"/>
            <a:ext cx="12307570" cy="1908810"/>
          </a:xfrm>
          <a:prstGeom prst="round1Rect">
            <a:avLst>
              <a:gd name="adj" fmla="val 0"/>
            </a:avLst>
          </a:prstGeom>
          <a:solidFill>
            <a:srgbClr val="FED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sp>
        <p:nvSpPr>
          <p:cNvPr id="533611158" name="单圆角矩形 4"/>
          <p:cNvSpPr/>
          <p:nvPr/>
        </p:nvSpPr>
        <p:spPr bwMode="auto"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7E6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pic>
        <p:nvPicPr>
          <p:cNvPr id="1693726240" name="图片 2" descr="底图-04"/>
          <p:cNvPicPr>
            <a:picLocks noChangeAspect="1"/>
          </p:cNvPicPr>
          <p:nvPr/>
        </p:nvPicPr>
        <p:blipFill rotWithShape="1">
          <a:blip r:embed="rId4"/>
          <a:srcRect r="4676"/>
          <a:stretch>
            <a:fillRect/>
          </a:stretch>
        </p:blipFill>
        <p:spPr bwMode="auto">
          <a:xfrm>
            <a:off x="356235" y="2873375"/>
            <a:ext cx="6939280" cy="1645920"/>
          </a:xfrm>
          <a:prstGeom prst="rect">
            <a:avLst/>
          </a:prstGeom>
        </p:spPr>
      </p:pic>
      <p:cxnSp>
        <p:nvCxnSpPr>
          <p:cNvPr id="838277765" name="直接连接符 6"/>
          <p:cNvCxnSpPr/>
          <p:nvPr/>
        </p:nvCxnSpPr>
        <p:spPr bwMode="auto"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8594859" name="文本框 17"/>
          <p:cNvSpPr txBox="1"/>
          <p:nvPr/>
        </p:nvSpPr>
        <p:spPr bwMode="auto">
          <a:xfrm>
            <a:off x="1880870" y="2975611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情绪与宏观波动</a:t>
            </a:r>
          </a:p>
        </p:txBody>
      </p:sp>
      <p:sp>
        <p:nvSpPr>
          <p:cNvPr id="839503698" name="文本框 17"/>
          <p:cNvSpPr txBox="1"/>
          <p:nvPr/>
        </p:nvSpPr>
        <p:spPr bwMode="auto"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8800">
                <a:solidFill>
                  <a:schemeClr val="bg1"/>
                </a:solidFill>
                <a:latin typeface="思源黑体 CN Bold"/>
                <a:ea typeface="思源黑体 CN Bold"/>
                <a:cs typeface="思源黑体 CN Normal"/>
              </a:rPr>
              <a:t>03</a:t>
            </a:r>
            <a:endParaRPr lang="en-US" sz="8800" b="1">
              <a:solidFill>
                <a:schemeClr val="bg1"/>
              </a:solidFill>
              <a:latin typeface="思源黑体 CN Bold"/>
              <a:ea typeface="思源黑体 CN Bold"/>
              <a:cs typeface="思源黑体 CN Normal"/>
            </a:endParaRPr>
          </a:p>
        </p:txBody>
      </p:sp>
      <p:pic>
        <p:nvPicPr>
          <p:cNvPr id="1245666636" name="图片 3" descr="工作动态"/>
          <p:cNvPicPr>
            <a:picLocks noChangeAspect="1"/>
          </p:cNvPicPr>
          <p:nvPr/>
        </p:nvPicPr>
        <p:blipFill rotWithShape="1">
          <a:blip r:embed="rId3"/>
          <a:srcRect l="14" t="-140" r="48946" b="140"/>
          <a:stretch>
            <a:fillRect/>
          </a:stretch>
        </p:blipFill>
        <p:spPr bwMode="auto">
          <a:xfrm>
            <a:off x="7300608" y="1697990"/>
            <a:ext cx="3600000" cy="3600000"/>
          </a:xfrm>
          <a:prstGeom prst="rect">
            <a:avLst/>
          </a:prstGeom>
        </p:spPr>
      </p:pic>
      <p:pic>
        <p:nvPicPr>
          <p:cNvPr id="864321454" name="图片 7" descr="校标、校名-透空2"/>
          <p:cNvPicPr>
            <a:picLocks noChangeAspect="1"/>
          </p:cNvPicPr>
          <p:nvPr userDrawn="1"/>
        </p:nvPicPr>
        <p:blipFill rotWithShape="1">
          <a:blip r:embed="rId5"/>
          <a:stretch>
            <a:fillRect/>
          </a:stretch>
        </p:blipFill>
        <p:spPr bwMode="auto"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611852084" name="图片 10" descr="底图-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6658300" name="图片 14" descr="未标题-2_画板 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 bwMode="auto"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64732526" name="文本框 18"/>
          <p:cNvSpPr txBox="1"/>
          <p:nvPr/>
        </p:nvSpPr>
        <p:spPr bwMode="auto">
          <a:xfrm>
            <a:off x="1976120" y="3569335"/>
            <a:ext cx="2969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金浩然、陈帅衡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15" y="1538605"/>
            <a:ext cx="7546975" cy="4596130"/>
          </a:xfrm>
          <a:prstGeom prst="rect">
            <a:avLst/>
          </a:prstGeom>
        </p:spPr>
      </p:pic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010275" y="1538605"/>
            <a:ext cx="1196975" cy="46615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835390" y="1538605"/>
            <a:ext cx="735965" cy="46615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07250" y="1538605"/>
            <a:ext cx="1617345" cy="46615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113145" y="2916555"/>
            <a:ext cx="377190" cy="21431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消费类指标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89520" y="2916555"/>
            <a:ext cx="377190" cy="21431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生产类指标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20580" y="2916555"/>
            <a:ext cx="377190" cy="21431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金融类指标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宏观指标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5315" y="998220"/>
            <a:ext cx="1615440" cy="458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相关系数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I.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金融类指标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1294765"/>
            <a:ext cx="3866515" cy="2268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895" y="3001645"/>
            <a:ext cx="6506845" cy="36347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445760" y="1248410"/>
            <a:ext cx="5822315" cy="19602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情感得分的水平值与沪深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300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指数水平值之间没有共同随机趋势；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短期看，只能检验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情感变动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能否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Granger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预测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股市变动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，但差分后序列接近白噪声。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4965" y="4079875"/>
            <a:ext cx="4313555" cy="20593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hh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snownlp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情感得分领先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HS300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约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个月，相关系数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0.35–0.4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，统计显著但幅度有限，可用于短期择时增强，不足以单独构成稳健策略。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sym typeface="+mn-ea"/>
              </a:rPr>
              <a:t>II.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生产类指标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10" y="1228725"/>
            <a:ext cx="4888865" cy="2480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960" y="2944495"/>
            <a:ext cx="6736080" cy="37198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21350" y="1184275"/>
            <a:ext cx="5822315" cy="15036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交叉相关图显示：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PPI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的当月上升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下降会在下个月带来同方向的情感得分大幅波动（峰值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0.8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左右）。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反向（情感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PPI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）或更长滞后的相关几乎为零。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88010" y="4159885"/>
            <a:ext cx="467995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0" i="0">
                <a:latin typeface="Times New Roman" panose="02020603050405020304" charset="0"/>
                <a:cs typeface="Times New Roman" panose="02020603050405020304" charset="0"/>
              </a:rPr>
              <a:t>工业价格（PPI）先动 → 一个月后投资者感受到成本压力、通胀预期或企业盈利担忧 → 弹幕/评论情绪随之剧烈起伏。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0" i="0">
                <a:latin typeface="Times New Roman" panose="02020603050405020304" charset="0"/>
                <a:cs typeface="Times New Roman" panose="02020603050405020304" charset="0"/>
              </a:rPr>
              <a:t>情绪并不反向影响 PPI，也不具备对 PPI 的长期预测能力。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49" y="317500"/>
            <a:ext cx="806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III.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消费类指标与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snownlp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python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中的情感词典）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8620" y="909320"/>
            <a:ext cx="8524875" cy="216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原始得分</a:t>
            </a: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r>
              <a:rPr lang="en-US" altLang="zh-CN" dirty="0"/>
              <a:t> </a:t>
            </a:r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中心化得分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54" y="1794510"/>
            <a:ext cx="3821104" cy="21330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836421"/>
            <a:ext cx="5464479" cy="198119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14" y="4222853"/>
            <a:ext cx="3821104" cy="213300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4325568"/>
            <a:ext cx="5268333" cy="1912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49" y="317500"/>
            <a:ext cx="9223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III.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消费类指标与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snownlp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python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中的情感词典）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8620" y="909320"/>
            <a:ext cx="8524875" cy="216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标题</a:t>
            </a:r>
            <a:r>
              <a:rPr lang="en-US" altLang="zh-CN" dirty="0"/>
              <a:t>+</a:t>
            </a:r>
            <a:r>
              <a:rPr lang="zh-CN" altLang="en-US" dirty="0"/>
              <a:t>描述修正</a:t>
            </a:r>
            <a:r>
              <a:rPr lang="en-US" altLang="zh-CN" dirty="0"/>
              <a:t> </a:t>
            </a:r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4" y="2675898"/>
            <a:ext cx="3971579" cy="22170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08" y="2802642"/>
            <a:ext cx="5838104" cy="1958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49" y="317500"/>
            <a:ext cx="806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III.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消费类指标与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svm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（支持向量机）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8620" y="909320"/>
            <a:ext cx="8524875" cy="216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支持向量机模型</a:t>
            </a:r>
            <a:r>
              <a:rPr lang="en-US" altLang="zh-CN" dirty="0"/>
              <a:t> </a:t>
            </a:r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原始得分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678" y="2092671"/>
            <a:ext cx="6559865" cy="120711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57" y="3940301"/>
            <a:ext cx="4205642" cy="23476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32" y="4114205"/>
            <a:ext cx="5472625" cy="1960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49" y="317500"/>
            <a:ext cx="806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III.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消费类指标与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svm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（支持向量机）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8620" y="909320"/>
            <a:ext cx="8524875" cy="216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中心化得分</a:t>
            </a: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标题</a:t>
            </a:r>
            <a:r>
              <a:rPr lang="en-US" altLang="zh-CN" dirty="0"/>
              <a:t>+</a:t>
            </a:r>
            <a:r>
              <a:rPr lang="zh-CN" altLang="en-US" dirty="0"/>
              <a:t>描述修正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24" y="1818611"/>
            <a:ext cx="3473435" cy="193893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16" y="1818611"/>
            <a:ext cx="5528415" cy="193115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38" y="4373880"/>
            <a:ext cx="3683678" cy="205629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16" y="4373880"/>
            <a:ext cx="5598443" cy="1806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39530" name="椭圆 58"/>
          <p:cNvSpPr/>
          <p:nvPr/>
        </p:nvSpPr>
        <p:spPr bwMode="auto">
          <a:xfrm>
            <a:off x="-369570" y="-820420"/>
            <a:ext cx="2344420" cy="2344420"/>
          </a:xfrm>
          <a:prstGeom prst="ellipse">
            <a:avLst/>
          </a:prstGeom>
          <a:solidFill>
            <a:srgbClr val="D4BB6E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solidFill>
                <a:schemeClr val="lt1"/>
              </a:solidFill>
              <a:cs typeface="思源黑体 CN Normal"/>
            </a:endParaRPr>
          </a:p>
        </p:txBody>
      </p:sp>
      <p:grpSp>
        <p:nvGrpSpPr>
          <p:cNvPr id="1041801215" name="组合 8"/>
          <p:cNvGrpSpPr/>
          <p:nvPr/>
        </p:nvGrpSpPr>
        <p:grpSpPr bwMode="auto"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 bwMode="auto">
            <a:xfrm rot="16199999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7E6F5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7" name="平行四边形 6"/>
            <p:cNvSpPr/>
            <p:nvPr/>
          </p:nvSpPr>
          <p:spPr bwMode="auto">
            <a:xfrm rot="20760000">
              <a:off x="6121" y="1913"/>
              <a:ext cx="2130" cy="1064"/>
            </a:xfrm>
            <a:prstGeom prst="parallelogram">
              <a:avLst>
                <a:gd name="adj" fmla="val 25000"/>
              </a:avLst>
            </a:prstGeom>
            <a:gradFill>
              <a:gsLst>
                <a:gs pos="0">
                  <a:srgbClr val="7E6F52">
                    <a:alpha val="53000"/>
                  </a:srgbClr>
                </a:gs>
                <a:gs pos="100000">
                  <a:srgbClr val="7E6F5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7E6F52"/>
                </a:gs>
                <a:gs pos="100000">
                  <a:srgbClr val="E0D5A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2046854754" name="文本框 17"/>
          <p:cNvSpPr txBox="1"/>
          <p:nvPr/>
        </p:nvSpPr>
        <p:spPr bwMode="auto"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</a:rPr>
              <a:t>03</a:t>
            </a:r>
          </a:p>
        </p:txBody>
      </p:sp>
      <p:sp>
        <p:nvSpPr>
          <p:cNvPr id="1964732526" name="文本框 18"/>
          <p:cNvSpPr txBox="1"/>
          <p:nvPr/>
        </p:nvSpPr>
        <p:spPr bwMode="auto">
          <a:xfrm>
            <a:off x="1530349" y="317500"/>
            <a:ext cx="806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III.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/>
                <a:sym typeface="+mn-ea"/>
              </a:rPr>
              <a:t>消费类指标</a:t>
            </a:r>
          </a:p>
        </p:txBody>
      </p:sp>
      <p:pic>
        <p:nvPicPr>
          <p:cNvPr id="566409936" name="图片 1" descr="建筑-10"/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tretch>
            <a:fillRect/>
          </a:stretch>
        </p:blipFill>
        <p:spPr bwMode="auto"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243" y="1525153"/>
            <a:ext cx="10655301" cy="2166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 err="1"/>
              <a:t>Snownlp</a:t>
            </a:r>
            <a:r>
              <a:rPr lang="zh-CN" altLang="en-US" dirty="0"/>
              <a:t>的特点是根据特有的情感词典进行线性叠加，得到一个连续的情绪强度分数。词频会在弹幕中出现持续累计和渲染的效果，在时序上呈现对消费类指标的影响和预测。</a:t>
            </a:r>
            <a:endParaRPr lang="en-US" altLang="zh-CN" dirty="0"/>
          </a:p>
          <a:p>
            <a:pPr eaLnBrk="1" fontAlgn="auto" latinLnBrk="0" hangingPunct="1">
              <a:lnSpc>
                <a:spcPct val="150000"/>
              </a:lnSpc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/>
              <a:t>SVM</a:t>
            </a:r>
            <a:r>
              <a:rPr lang="zh-CN" altLang="en-US" dirty="0"/>
              <a:t>纳入更高维的变量，更多考虑词组和表述搭配并给出可以反映倾向和强烈程度的分数。因此在情绪波动强烈或分化比较大时有更好的预测效果，在时序上更容易被消费类指标影响和预测。</a:t>
            </a: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 dirty="0"/>
          </a:p>
          <a:p>
            <a:pPr marL="285750" indent="-28575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/>
              <a:t>短期内需要考虑情绪和消费类指标的双向作用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247906" name="图片 4" descr="刘子逸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1904365" y="0"/>
            <a:ext cx="10287000" cy="6858000"/>
          </a:xfrm>
          <a:prstGeom prst="rect">
            <a:avLst/>
          </a:prstGeom>
        </p:spPr>
      </p:pic>
      <p:sp>
        <p:nvSpPr>
          <p:cNvPr id="557856163" name="矩形 1"/>
          <p:cNvSpPr/>
          <p:nvPr/>
        </p:nvSpPr>
        <p:spPr bwMode="auto">
          <a:xfrm>
            <a:off x="0" y="0"/>
            <a:ext cx="12192000" cy="6867524"/>
          </a:xfrm>
          <a:prstGeom prst="rect">
            <a:avLst/>
          </a:prstGeom>
          <a:gradFill>
            <a:gsLst>
              <a:gs pos="19000">
                <a:srgbClr val="C2A13A"/>
              </a:gs>
              <a:gs pos="70000">
                <a:srgbClr val="D4BB6E">
                  <a:alpha val="9000"/>
                </a:srgbClr>
              </a:gs>
              <a:gs pos="100000">
                <a:srgbClr val="D4BB6E">
                  <a:alpha val="0"/>
                </a:srgb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defRPr/>
            </a:pPr>
            <a:endParaRPr lang="zh-CN"/>
          </a:p>
        </p:txBody>
      </p:sp>
      <p:sp>
        <p:nvSpPr>
          <p:cNvPr id="1593488539" name="矩形 3"/>
          <p:cNvSpPr/>
          <p:nvPr/>
        </p:nvSpPr>
        <p:spPr bwMode="auto">
          <a:xfrm>
            <a:off x="0" y="-11430"/>
            <a:ext cx="12191365" cy="775970"/>
          </a:xfrm>
          <a:prstGeom prst="rect">
            <a:avLst/>
          </a:prstGeom>
          <a:gradFill>
            <a:gsLst>
              <a:gs pos="0">
                <a:srgbClr val="FEDE77"/>
              </a:gs>
              <a:gs pos="63000">
                <a:srgbClr val="FEDE77">
                  <a:alpha val="15000"/>
                </a:srgbClr>
              </a:gs>
              <a:gs pos="100000">
                <a:srgbClr val="FEDE77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cs typeface="思源黑体 CN Normal"/>
            </a:endParaRPr>
          </a:p>
        </p:txBody>
      </p:sp>
      <p:pic>
        <p:nvPicPr>
          <p:cNvPr id="49169407" name="图片 5" descr="校标、校名-透空2"/>
          <p:cNvPicPr>
            <a:picLocks noChangeAspect="1"/>
          </p:cNvPicPr>
          <p:nvPr userDrawn="1"/>
        </p:nvPicPr>
        <p:blipFill rotWithShape="1">
          <a:blip r:embed="rId4"/>
          <a:stretch>
            <a:fillRect/>
          </a:stretch>
        </p:blipFill>
        <p:spPr bwMode="auto">
          <a:xfrm>
            <a:off x="386080" y="186055"/>
            <a:ext cx="1260000" cy="40370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415670" name="文本框 36"/>
          <p:cNvSpPr txBox="1"/>
          <p:nvPr/>
        </p:nvSpPr>
        <p:spPr bwMode="auto">
          <a:xfrm>
            <a:off x="523875" y="2279968"/>
            <a:ext cx="4133850" cy="23069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Merry Christmas</a:t>
            </a:r>
            <a:r>
              <a:rPr lang="zh-CN" sz="80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！</a:t>
            </a:r>
          </a:p>
        </p:txBody>
      </p:sp>
      <p:cxnSp>
        <p:nvCxnSpPr>
          <p:cNvPr id="1248278088" name="直接连接符 39"/>
          <p:cNvCxnSpPr/>
          <p:nvPr/>
        </p:nvCxnSpPr>
        <p:spPr bwMode="auto"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138473" name="文本框 9"/>
          <p:cNvSpPr txBox="1"/>
          <p:nvPr/>
        </p:nvSpPr>
        <p:spPr bwMode="auto"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日期：</a:t>
            </a:r>
            <a:r>
              <a:rPr lang="en-US" altLang="zh-CN" sz="2000" b="1">
                <a:solidFill>
                  <a:schemeClr val="bg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2025.12.25</a:t>
            </a:r>
          </a:p>
        </p:txBody>
      </p:sp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7272655" y="-11430"/>
            <a:ext cx="4918710" cy="6869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8.45,&quot;left&quot;:0,&quot;top&quot;:133.675,&quot;width&quot;:294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8.45,&quot;left&quot;:0,&quot;top&quot;:133.675,&quot;width&quot;:294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8.45,&quot;left&quot;:0,&quot;top&quot;:133.675,&quot;width&quot;:294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475,&quot;left&quot;:0,&quot;top&quot;:120.05,&quot;width&quot;:475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8.45,&quot;left&quot;:0,&quot;top&quot;:133.675,&quot;width&quot;:294.8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1204</Words>
  <Application>Microsoft Office PowerPoint</Application>
  <PresentationFormat>宽屏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华文楷体</vt:lpstr>
      <vt:lpstr>华文行楷</vt:lpstr>
      <vt:lpstr>楷体</vt:lpstr>
      <vt:lpstr>思源黑体 CN Bold</vt:lpstr>
      <vt:lpstr>思源黑体 CN Normal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进 王</cp:lastModifiedBy>
  <cp:revision>237</cp:revision>
  <dcterms:created xsi:type="dcterms:W3CDTF">2019-06-19T02:08:00Z</dcterms:created>
  <dcterms:modified xsi:type="dcterms:W3CDTF">2025-12-25T05:18:08Z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6C47992E60F547B2B88B57F17E349724_12</vt:lpwstr>
  </property>
  <property fmtid="{D5CDD505-2E9C-101B-9397-08002B2CF9AE}" pid="3" name="KSOProductBuildVer">
    <vt:lpwstr>2052-12.1.0.23542</vt:lpwstr>
  </property>
</Properties>
</file>